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23226" y="533400"/>
            <a:ext cx="1959173" cy="266700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798516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2266950"/>
            <a:ext cx="3619500" cy="2476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425" y="2276475"/>
            <a:ext cx="3600450" cy="2457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181725"/>
            <a:ext cx="1524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803" y="6181725"/>
            <a:ext cx="11430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81025"/>
            <a:ext cx="494388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Agency FB"/>
              </a:rPr>
              <a:t>DATA ANALYTICS &amp; FINANCIAL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5626" y="590550"/>
            <a:ext cx="17496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Georgia"/>
              </a:rPr>
              <a:t>Power BI | DAX | IFRS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72200"/>
            <a:ext cx="2492685" cy="1524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Georgia"/>
              </a:rPr>
              <a:t>8-Module Enterprise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4803" y="6172200"/>
            <a:ext cx="2159496" cy="1524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Georgia"/>
              </a:rPr>
              <a:t>Investor &amp; Risk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173783"/>
            <a:ext cx="7340917" cy="1634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>
                <a:solidFill>
                  <a:srgbClr val="FFFFFF"/>
                </a:solidFill>
                <a:latin typeface="Agency FB"/>
              </a:rPr>
              <a:t>AUTO LOAN SECURITISATION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998416"/>
            <a:ext cx="5619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Georgia"/>
              </a:rPr>
              <a:t>Comprehensive Module Framework for Portfolio Performance, ECL Staging &amp; Cash Flow Waterfall Modeling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99" y="1985962"/>
            <a:ext cx="3530649" cy="1781175"/>
          </a:xfrm>
          <a:prstGeom prst="roundRect">
            <a:avLst>
              <a:gd name="adj" fmla="val 64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06937" y="1985962"/>
            <a:ext cx="3530649" cy="1781175"/>
          </a:xfrm>
          <a:prstGeom prst="roundRect">
            <a:avLst>
              <a:gd name="adj" fmla="val 64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4275" y="1985962"/>
            <a:ext cx="3530649" cy="1781175"/>
          </a:xfrm>
          <a:prstGeom prst="roundRect">
            <a:avLst>
              <a:gd name="adj" fmla="val 64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527" y="4367579"/>
            <a:ext cx="3530649" cy="1781175"/>
          </a:xfrm>
          <a:prstGeom prst="roundRect">
            <a:avLst>
              <a:gd name="adj" fmla="val 64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749" y="4393955"/>
            <a:ext cx="3530649" cy="1754800"/>
          </a:xfrm>
          <a:prstGeom prst="roundRect">
            <a:avLst>
              <a:gd name="adj" fmla="val 56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899" y="4371975"/>
            <a:ext cx="3530649" cy="1776779"/>
          </a:xfrm>
          <a:prstGeom prst="roundRect">
            <a:avLst>
              <a:gd name="adj" fmla="val 56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08597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208597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085975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476749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4432787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114" y="4452937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Architecture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CORE SYSTEM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400300"/>
            <a:ext cx="40088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1: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724150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Star schema architecture.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9527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Fact performance tables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Dimension relationships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High-speed DAX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874" y="2400300"/>
            <a:ext cx="40088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2: PORTFOLIO 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2724150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Balance &amp; characteristic metrics.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29527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Active vs defaulted balances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WAC, WAM, WALA calculations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Weighted LTV &amp; CIBIL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2400300"/>
            <a:ext cx="39019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3: DELINQUENCY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024" y="2724150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Early-warning monitoring.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024" y="29527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30 / 60 / 90+ DPD buckets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Roll-rate migration matrices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Early trigger warnings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791074"/>
            <a:ext cx="40088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4: IFRS 9 ECL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5114924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Staging &amp; impairment engine.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5343524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Stage 1, 2, 3 classification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PD × LGD × EAD formulas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Provisioning variance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874" y="4747112"/>
            <a:ext cx="330713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5: CASH WATERFALL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874" y="5130311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CBD5E1"/>
                </a:solidFill>
                <a:latin typeface="Georgia"/>
              </a:rPr>
              <a:t>Tranche cash allocation.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8874" y="5358911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Senior / Mezz priority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OC &amp; IC coverage ratios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Reserve account drawdowns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114" y="4767262"/>
            <a:ext cx="330713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Agency FB"/>
              </a:rPr>
              <a:t>MODULE 6: INVESTOR TAPES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011" y="5148262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CBD5E1"/>
                </a:solidFill>
                <a:latin typeface="Georgia"/>
              </a:rPr>
              <a:t>Automated rating agency reports.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023" y="5364772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Standard ESMA data tapes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Excel-backed audit checks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Automated PDF summaries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4612"/>
            <a:ext cx="5808464" cy="1266825"/>
          </a:xfrm>
          <a:prstGeom prst="roundRect">
            <a:avLst>
              <a:gd name="adj" fmla="val 751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33837"/>
            <a:ext cx="5808464" cy="1066800"/>
          </a:xfrm>
          <a:prstGeom prst="roundRect">
            <a:avLst>
              <a:gd name="adj" fmla="val 89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871912"/>
            <a:ext cx="58084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14612"/>
            <a:ext cx="58084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14612"/>
            <a:ext cx="38100" cy="12668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8539" y="2614612"/>
            <a:ext cx="9525" cy="12668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091112"/>
            <a:ext cx="58084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033837"/>
            <a:ext cx="58084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033837"/>
            <a:ext cx="38100" cy="1066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8539" y="4033837"/>
            <a:ext cx="9525" cy="1066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864" y="2624137"/>
            <a:ext cx="4859535" cy="2466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389" y="2152650"/>
            <a:ext cx="4840485" cy="3409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24162"/>
            <a:ext cx="214312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243387"/>
            <a:ext cx="185737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068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762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 1: DATA ARCHITECTURE &amp; STAR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814637"/>
            <a:ext cx="7061038" cy="247650"/>
          </a:xfrm>
          <a:prstGeom prst="rect">
            <a:avLst/>
          </a:prstGeom>
          <a:noFill/>
        </p:spPr>
        <p:txBody>
          <a:bodyPr wrap="none" lIns="290512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DIMENSION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119437"/>
            <a:ext cx="67247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DimLoan: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Account IDs, origination date, tenure, interest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319462"/>
            <a:ext cx="67247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DimBorrower: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CIBIL credit score, income band, DTI, employment type.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519487"/>
            <a:ext cx="67247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DimVehicle: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New/used tag, LTV ratio, manufacturer 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233862"/>
            <a:ext cx="7061038" cy="247650"/>
          </a:xfrm>
          <a:prstGeom prst="rect">
            <a:avLst/>
          </a:prstGeom>
          <a:noFill/>
        </p:spPr>
        <p:txBody>
          <a:bodyPr wrap="none" lIns="261937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FACT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538662"/>
            <a:ext cx="67247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FactMonthlyPerformance: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Monthly collections, principal &amp; interest split.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4738687"/>
            <a:ext cx="67247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FactDPDSnapshot: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Monthly days-past-due status and roll-rate flags.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91050"/>
            <a:ext cx="10972800" cy="485775"/>
          </a:xfrm>
          <a:prstGeom prst="roundRect">
            <a:avLst>
              <a:gd name="adj" fmla="val 19607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38425"/>
            <a:ext cx="3530649" cy="1762125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638425"/>
            <a:ext cx="3530649" cy="1762125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638425"/>
            <a:ext cx="3530649" cy="1762125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762500"/>
            <a:ext cx="1809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 2: PORTFOLIO ANALYTICS &amp; UNDERWRITING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67025"/>
            <a:ext cx="3168699" cy="1304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Georgia"/>
              </a:rPr>
              <a:t>A. Balance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349" y="2867025"/>
            <a:ext cx="3168699" cy="1304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Georgia"/>
              </a:rPr>
              <a:t>B. Time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499" y="2867025"/>
            <a:ext cx="3168699" cy="1304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Georgia"/>
              </a:rPr>
              <a:t>C. Credit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752975"/>
            <a:ext cx="11344275" cy="16192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Georgia"/>
              </a:rPr>
              <a:t>DAX Logic:</a:t>
            </a:r>
            <a:r>
              <a:rPr sz="1125" b="0" i="0" u="none">
                <a:solidFill>
                  <a:srgbClr val="38BDF8"/>
                </a:solidFill>
                <a:latin typeface="Georgia"/>
              </a:rPr>
              <a:t> Dynamic weighted-average measures recalculate instantaneously upon slicer filtering across originations, geographies, and car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14675"/>
            <a:ext cx="3307132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gency FB"/>
              </a:rPr>
              <a:t>PORTFOLIO OUTSTANDING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705225"/>
            <a:ext cx="31496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Total active pool balance tracking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• Current vs defaulted balance split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• Principal run-off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114675"/>
            <a:ext cx="40088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gency FB"/>
              </a:rPr>
              <a:t>WAC / WAM / WALA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438525"/>
            <a:ext cx="31496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Weighted Average Coupon (WAC)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• Weighted Average Maturity (WAM)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• Weighted Average Loan Age (WALA)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114675"/>
            <a:ext cx="39019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gency FB"/>
              </a:rPr>
              <a:t>RISK CHARACTERISTICS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438525"/>
            <a:ext cx="31496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Weighted LTV ratio: </a:t>
            </a:r>
            <a:r>
              <a:rPr sz="1050" b="1" i="0" u="none">
                <a:solidFill>
                  <a:srgbClr val="CBD5E1"/>
                </a:solidFill>
                <a:latin typeface="Georgia"/>
              </a:rPr>
              <a:t>78.4%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• Weighted CIBIL score: </a:t>
            </a:r>
            <a:r>
              <a:rPr sz="1050" b="1" i="0" u="none">
                <a:solidFill>
                  <a:srgbClr val="CBD5E1"/>
                </a:solidFill>
                <a:latin typeface="Georgia"/>
              </a:rPr>
              <a:t>742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• Weighted DTI ratio: </a:t>
            </a:r>
            <a:r>
              <a:rPr sz="1050" b="1" i="0" u="none">
                <a:solidFill>
                  <a:srgbClr val="CBD5E1"/>
                </a:solidFill>
                <a:latin typeface="Georgia"/>
              </a:rPr>
              <a:t>34.1%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4225" y="4443412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302125"/>
          </a:solidFill>
          <a:ln w="9525">
            <a:solidFill>
              <a:srgbClr val="673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71750"/>
            <a:ext cx="3530649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633662"/>
            <a:ext cx="3530649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643187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676775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 3: DELINQUENCY BUCKETS &amp; ROLL-RATE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705100"/>
            <a:ext cx="40088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1. DPD BUCKET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76562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CBD5E1"/>
                </a:solidFill>
                <a:latin typeface="Georgia"/>
              </a:rPr>
              <a:t>Categorization into strict delinquency bands: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090404"/>
            <a:ext cx="31496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Georgia"/>
              </a:rPr>
              <a:t>• Current (0 DPD)</a:t>
            </a:r>
            <a:r>
              <a:rPr dirty="0"/>
              <a:t>
</a:t>
            </a:r>
            <a:r>
              <a:rPr sz="975" b="0" i="0" u="none" dirty="0">
                <a:solidFill>
                  <a:srgbClr val="94A3B8"/>
                </a:solidFill>
                <a:latin typeface="Georgia"/>
              </a:rPr>
              <a:t> • 1 - 30 DPD (Early Alert)</a:t>
            </a:r>
            <a:r>
              <a:rPr dirty="0"/>
              <a:t>
</a:t>
            </a:r>
            <a:r>
              <a:rPr sz="975" b="0" i="0" u="none" dirty="0">
                <a:solidFill>
                  <a:srgbClr val="94A3B8"/>
                </a:solidFill>
                <a:latin typeface="Georgia"/>
              </a:rPr>
              <a:t> • 31 - 60 DPD (Moderate Risk)</a:t>
            </a:r>
            <a:r>
              <a:rPr dirty="0"/>
              <a:t>
</a:t>
            </a:r>
            <a:r>
              <a:rPr sz="975" b="0" i="0" u="none" dirty="0">
                <a:solidFill>
                  <a:srgbClr val="94A3B8"/>
                </a:solidFill>
                <a:latin typeface="Georgia"/>
              </a:rPr>
              <a:t> • 61 - 90 DPD &amp; 90+ DPD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0929" y="2721951"/>
            <a:ext cx="40088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2. ROLL-RATE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0929" y="3007518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Month-on-Month transition probabilities: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0929" y="3217068"/>
            <a:ext cx="3149649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Roll-forward rates (e.g. 30 → 60 DPD)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Cure rates (e.g. 30 → Current)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Write-off / Default entry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5" y="2721951"/>
            <a:ext cx="39019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3. EARLY TRIGGER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003855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CBD5E1"/>
                </a:solidFill>
                <a:latin typeface="Georgia"/>
              </a:rPr>
              <a:t>Automated portfolio health monitors: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213405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Georgia"/>
              </a:rPr>
              <a:t>• 30+ DPD threshold alerts (&gt; 2.5%)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Cumulative loss limit breach flags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Georgia"/>
              </a:rPr>
              <a:t> • Originator servicer warning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3025" y="4610100"/>
            <a:ext cx="1048470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Agency FB"/>
              </a:rPr>
              <a:t>ANALYTICAL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4848225"/>
            <a:ext cx="9985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DBA74"/>
                </a:solidFill>
                <a:latin typeface="Georgia"/>
              </a:rPr>
              <a:t>Predict eventual default migration early in the loan lifecycle to initiate targeted collection strategies before Stage 3 impairment.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14450"/>
            <a:ext cx="5372100" cy="5086350"/>
          </a:xfrm>
          <a:prstGeom prst="roundRect">
            <a:avLst>
              <a:gd name="adj" fmla="val 22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14450"/>
            <a:ext cx="5372100" cy="5086350"/>
          </a:xfrm>
          <a:prstGeom prst="roundRect">
            <a:avLst>
              <a:gd name="adj" fmla="val 22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5210175"/>
            <a:ext cx="4895850" cy="952499"/>
          </a:xfrm>
          <a:prstGeom prst="roundRect">
            <a:avLst>
              <a:gd name="adj" fmla="val 11428"/>
            </a:avLst>
          </a:prstGeom>
          <a:solidFill>
            <a:srgbClr val="02061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5210175"/>
            <a:ext cx="4895850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5210175"/>
            <a:ext cx="4876800" cy="942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 4: IFRS 9 EXPECTED CREDIT LOSS (ECL)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562100"/>
            <a:ext cx="830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Agency FB"/>
              </a:rPr>
              <a:t>PART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771650"/>
            <a:ext cx="642580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gency FB"/>
              </a:rPr>
              <a:t>STAGING CRITERIA &amp;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337" y="5486400"/>
            <a:ext cx="5762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94A3B8"/>
                </a:solidFill>
                <a:latin typeface="Agency FB"/>
              </a:rPr>
              <a:t>ECL CORE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37" y="5657850"/>
            <a:ext cx="5762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38BDF8"/>
                </a:solidFill>
                <a:latin typeface="Georgia"/>
              </a:rPr>
              <a:t>ECL = PD (%) × LGD (%) × EAD (₹)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1562100"/>
            <a:ext cx="83566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D4BF"/>
                </a:solidFill>
                <a:latin typeface="Agency FB"/>
              </a:rPr>
              <a:t>PART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1771650"/>
            <a:ext cx="5743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gency FB"/>
              </a:rPr>
              <a:t>ECL MODEL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152650"/>
            <a:ext cx="611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Georgia"/>
              </a:rPr>
              <a:t>Stage 1 (Performing):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0-30 DPD. 12-month ECL provision applied.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400300"/>
            <a:ext cx="4991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BBF24"/>
                </a:solidFill>
                <a:latin typeface="Georgia"/>
              </a:rPr>
              <a:t>Stage 2 (SICR):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31-90 DPD or Significant Increase in Credit Risk. Lifetime ECL applied.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00350"/>
            <a:ext cx="4991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Georgia"/>
              </a:rPr>
              <a:t>Stage 3 (Credit Impaired):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90+ DPD / Default. Lifetime ECL provision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152650"/>
            <a:ext cx="4991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Georgia"/>
              </a:rPr>
              <a:t>Probability of Default (PD):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Historical transition matrices &amp; forward-looking macro overlays.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552700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Georgia"/>
              </a:rPr>
              <a:t>Loss Given Default (LGD):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Vehicle collateral recovery haircut models.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800350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Georgia"/>
              </a:rPr>
              <a:t>Exposure at Default (EAD):</a:t>
            </a:r>
            <a:r>
              <a:rPr sz="1050" b="0" i="0" u="none">
                <a:solidFill>
                  <a:srgbClr val="CBD5E1"/>
                </a:solidFill>
                <a:latin typeface="Georgia"/>
              </a:rPr>
              <a:t> Amortization balance plus future drawdowns.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7012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76712"/>
            <a:ext cx="3530649" cy="11811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4286250"/>
            <a:ext cx="3530649" cy="962025"/>
          </a:xfrm>
          <a:prstGeom prst="roundRect">
            <a:avLst>
              <a:gd name="adj" fmla="val 1188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4176712"/>
            <a:ext cx="3530649" cy="11811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367087"/>
            <a:ext cx="1519237" cy="371475"/>
          </a:xfrm>
          <a:prstGeom prst="roundRect">
            <a:avLst>
              <a:gd name="adj" fmla="val 20512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24137" y="3357562"/>
            <a:ext cx="1538287" cy="390525"/>
          </a:xfrm>
          <a:prstGeom prst="roundRect">
            <a:avLst>
              <a:gd name="adj" fmla="val 19512"/>
            </a:avLst>
          </a:prstGeom>
          <a:solidFill>
            <a:srgbClr val="223F57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19600" y="3357562"/>
            <a:ext cx="1538287" cy="390525"/>
          </a:xfrm>
          <a:prstGeom prst="roundRect">
            <a:avLst>
              <a:gd name="adj" fmla="val 19512"/>
            </a:avLst>
          </a:prstGeom>
          <a:solidFill>
            <a:srgbClr val="223F57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5062" y="3357562"/>
            <a:ext cx="1538287" cy="390525"/>
          </a:xfrm>
          <a:prstGeom prst="roundRect">
            <a:avLst>
              <a:gd name="adj" fmla="val 19512"/>
            </a:avLst>
          </a:prstGeom>
          <a:solidFill>
            <a:srgbClr val="214349"/>
          </a:solidFill>
          <a:ln w="9525">
            <a:solidFill>
              <a:srgbClr val="255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525" y="3357562"/>
            <a:ext cx="1538287" cy="390525"/>
          </a:xfrm>
          <a:prstGeom prst="roundRect">
            <a:avLst>
              <a:gd name="adj" fmla="val 19512"/>
            </a:avLst>
          </a:prstGeom>
          <a:solidFill>
            <a:srgbClr val="3F4038"/>
          </a:solidFill>
          <a:ln w="9525">
            <a:solidFill>
              <a:srgbClr val="605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05987" y="3357562"/>
            <a:ext cx="1538287" cy="390525"/>
          </a:xfrm>
          <a:prstGeom prst="roundRect">
            <a:avLst>
              <a:gd name="adj" fmla="val 19512"/>
            </a:avLst>
          </a:prstGeom>
          <a:solidFill>
            <a:srgbClr val="3E2C40"/>
          </a:solidFill>
          <a:ln w="9525">
            <a:solidFill>
              <a:srgbClr val="5E3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2" y="3500437"/>
            <a:ext cx="66675" cy="1047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3500437"/>
            <a:ext cx="66675" cy="1047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37" y="3500437"/>
            <a:ext cx="66675" cy="104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3500437"/>
            <a:ext cx="66675" cy="1047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062" y="3500437"/>
            <a:ext cx="66675" cy="104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0680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76275"/>
            <a:ext cx="1158240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 5: CASH FLOW WATERFALL &amp; TRANCHE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005137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4A3B8"/>
                </a:solidFill>
                <a:latin typeface="Agency FB"/>
              </a:rPr>
              <a:t>PRIORITY OF PAYMENTS EXECUTION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120" y="3481387"/>
            <a:ext cx="167044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Georgia"/>
              </a:rPr>
              <a:t>1.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6151" y="3471862"/>
            <a:ext cx="16942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Georgia"/>
              </a:rPr>
              <a:t>2. Senior 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1614" y="3471862"/>
            <a:ext cx="16942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Georgia"/>
              </a:rPr>
              <a:t>3. Class A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7076" y="3471862"/>
            <a:ext cx="16942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4D399"/>
                </a:solidFill>
                <a:latin typeface="Georgia"/>
              </a:rPr>
              <a:t>4. Class B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2539" y="3471862"/>
            <a:ext cx="16942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BBF24"/>
                </a:solidFill>
                <a:latin typeface="Georgia"/>
              </a:rPr>
              <a:t>5. Reserve Top-up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8001" y="3471862"/>
            <a:ext cx="169425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43F5E"/>
                </a:solidFill>
                <a:latin typeface="Georgia"/>
              </a:rPr>
              <a:t>6. Equity Residual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376737"/>
            <a:ext cx="338714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Agency FB"/>
              </a:rPr>
              <a:t>OVERCOLLATERALISATION (OC)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4852987"/>
            <a:ext cx="32258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Maintains minimum asset-to-debt ratios for rating protection.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0774" y="4486275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Agency FB"/>
              </a:rPr>
              <a:t>INTEREST COVERAGE (IC)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0774" y="4743450"/>
            <a:ext cx="32258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Checks available interest cash flows against note coupons.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1924" y="4376737"/>
            <a:ext cx="338714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Agency FB"/>
              </a:rPr>
              <a:t>RESERVE ACCOUNT MECHANICS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1924" y="4852987"/>
            <a:ext cx="32258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Draws cash during shortfalls &amp; replenishes in excess spread.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67808" y="2500312"/>
            <a:ext cx="6014591" cy="2714625"/>
          </a:xfrm>
          <a:prstGeom prst="roundRect">
            <a:avLst>
              <a:gd name="adj" fmla="val 42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4615308" cy="371475"/>
          </a:xfrm>
          <a:prstGeom prst="roundRect">
            <a:avLst>
              <a:gd name="adj" fmla="val 2051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781425"/>
            <a:ext cx="4615308" cy="371475"/>
          </a:xfrm>
          <a:prstGeom prst="roundRect">
            <a:avLst>
              <a:gd name="adj" fmla="val 2051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48150"/>
            <a:ext cx="4615308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676650"/>
            <a:ext cx="46153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143375"/>
            <a:ext cx="46153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772025"/>
            <a:ext cx="46153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05933" y="3319462"/>
            <a:ext cx="5538341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05933" y="3814762"/>
            <a:ext cx="5538341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05933" y="4310062"/>
            <a:ext cx="5538341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05933" y="4805362"/>
            <a:ext cx="5538341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05933" y="3319462"/>
            <a:ext cx="2769096" cy="1714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05933" y="3814762"/>
            <a:ext cx="3765946" cy="1714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05933" y="4310062"/>
            <a:ext cx="4929038" cy="171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5933" y="4805362"/>
            <a:ext cx="5538341" cy="171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429000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895725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362450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068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762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 6: STRESS TESTING &amp; MACRO SCENARIO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933700"/>
            <a:ext cx="60575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STRESS PARAMETERS &amp; SHOCKS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5933" y="2738437"/>
            <a:ext cx="63860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Agency FB"/>
              </a:rPr>
              <a:t>ECL STRESS PROVISION IMPACT (₹ MILLIONS)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3409950"/>
            <a:ext cx="444385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PD Multipliers: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1.25x - 2.50x default rate increase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876675"/>
            <a:ext cx="444385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LGD Haircuts: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10% - 30% reduction in vehicle recovery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4343400"/>
            <a:ext cx="444385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Georgia"/>
              </a:rPr>
              <a:t>CPR / SMM Prepayment Speeds:</a:t>
            </a:r>
            <a:r>
              <a:rPr sz="1125" b="0" i="0" u="none">
                <a:solidFill>
                  <a:srgbClr val="CBD5E1"/>
                </a:solidFill>
                <a:latin typeface="Georgia"/>
              </a:rPr>
              <a:t> High/low prepayment shifts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5933" y="3128962"/>
            <a:ext cx="22549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Georgia"/>
              </a:rPr>
              <a:t>Base Case (Standard Macro)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44807" y="3128962"/>
            <a:ext cx="78521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Georgia"/>
              </a:rPr>
              <a:t>₹11.67M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5933" y="3624262"/>
            <a:ext cx="252059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Georgia"/>
              </a:rPr>
              <a:t>Moderate Downturn (+25% PD)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9833" y="3624262"/>
            <a:ext cx="82019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Georgia"/>
              </a:rPr>
              <a:t>₹16.03M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5933" y="4119562"/>
            <a:ext cx="37043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Georgia"/>
              </a:rPr>
              <a:t>Severe Recession (+75% PD, 20% LGD haircut)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90039" y="4119562"/>
            <a:ext cx="83998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Georgia"/>
              </a:rPr>
              <a:t>₹20.99M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5933" y="4614862"/>
            <a:ext cx="27553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Georgia"/>
              </a:rPr>
              <a:t>Extreme Stress (Stagflation Crisis)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5368" y="4614862"/>
            <a:ext cx="824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Georgia"/>
              </a:rPr>
              <a:t>₹23.33M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95537"/>
            <a:ext cx="3530649" cy="3333750"/>
          </a:xfrm>
          <a:prstGeom prst="roundRect">
            <a:avLst>
              <a:gd name="adj" fmla="val 3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395537"/>
            <a:ext cx="3530649" cy="3333750"/>
          </a:xfrm>
          <a:prstGeom prst="roundRect">
            <a:avLst>
              <a:gd name="adj" fmla="val 3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395537"/>
            <a:ext cx="3530649" cy="3333750"/>
          </a:xfrm>
          <a:prstGeom prst="roundRect">
            <a:avLst>
              <a:gd name="adj" fmla="val 3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43187"/>
            <a:ext cx="16192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2643187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643187"/>
            <a:ext cx="18097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Module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Agency FB"/>
              </a:rPr>
              <a:t>MODULES 7 &amp; 8: INVESTOR REPORTING &amp; AUDIT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86087"/>
            <a:ext cx="330713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7: INVESTOR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2986087"/>
            <a:ext cx="330713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MODULE 8: RATING AGENCY 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0024" y="2986087"/>
            <a:ext cx="39019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Agency FB"/>
              </a:rPr>
              <a:t>AUDIT &amp;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766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Automated Monthly Pool Summary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052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Delinquency &amp; Roll-Rate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0338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Cash Waterfall payout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2624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Trigger breach log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874" y="35766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ESMA / CRISIL loan-level data tape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874" y="38052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Pool static performance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874" y="40338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WAC / WAM / WALA automated 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426243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EAD &amp; recovery data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024" y="332898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100% Excel model cross-validation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355758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Completeness &amp; null value integrity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024" y="378618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DAX vs SQL data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024" y="4014787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Georgia"/>
              </a:rPr>
              <a:t>• Row-Level Security (RLS) enforcement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3620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23093" y="4466492"/>
            <a:ext cx="11913576" cy="483577"/>
          </a:xfrm>
          <a:prstGeom prst="roundRect">
            <a:avLst>
              <a:gd name="adj" fmla="val 15000"/>
            </a:avLst>
          </a:prstGeom>
          <a:solidFill>
            <a:srgbClr val="122247"/>
          </a:solidFill>
          <a:ln w="9525">
            <a:solidFill>
              <a:srgbClr val="183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62352"/>
            <a:ext cx="109728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263675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0425" y="2263675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2263675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82075" y="2263675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5962352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Georgia"/>
              </a:rPr>
              <a:t>Final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Agency FB"/>
              </a:rPr>
              <a:t>PROJECT DELIVERABLES &amp; VALUE REALIZED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393" y="4604637"/>
            <a:ext cx="1163812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u="none" dirty="0">
                <a:solidFill>
                  <a:srgbClr val="E2E8F0"/>
                </a:solidFill>
                <a:latin typeface="Georgia"/>
              </a:rPr>
              <a:t>An end-to-end, production-ready framework providing institutional investors, credit risk managers, and rating agencies with complete transparency into auto loan </a:t>
            </a:r>
            <a:r>
              <a:rPr sz="1100" b="0" i="0" u="none" dirty="0" err="1">
                <a:solidFill>
                  <a:srgbClr val="E2E8F0"/>
                </a:solidFill>
                <a:latin typeface="Georgia"/>
              </a:rPr>
              <a:t>securitisation</a:t>
            </a:r>
            <a:r>
              <a:rPr sz="1100" b="0" i="0" u="none" dirty="0">
                <a:solidFill>
                  <a:srgbClr val="E2E8F0"/>
                </a:solidFill>
                <a:latin typeface="Georgia"/>
              </a:rPr>
              <a:t> portfolios.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24277"/>
            <a:ext cx="614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Agency FB"/>
              </a:rPr>
              <a:t>AUTO LOAN SECURITISATION ANALYTICS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9932" y="6148089"/>
            <a:ext cx="14655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Georgia"/>
              </a:rPr>
              <a:t>End of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215" y="2501800"/>
            <a:ext cx="265509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38BDF8"/>
                </a:solidFill>
                <a:latin typeface="Agency FB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215" y="3016150"/>
            <a:ext cx="2655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Georgia"/>
              </a:rPr>
              <a:t>Integrated Analytics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3040" y="2501800"/>
            <a:ext cx="265509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38BDF8"/>
                </a:solidFill>
                <a:latin typeface="Agency FB"/>
              </a:rPr>
              <a:t>80+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3040" y="3016150"/>
            <a:ext cx="2655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Georgia"/>
              </a:rPr>
              <a:t>DAX &amp; Financial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865" y="2501800"/>
            <a:ext cx="265509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38BDF8"/>
                </a:solidFill>
                <a:latin typeface="Agency FB"/>
              </a:rPr>
              <a:t>IFRS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865" y="3016150"/>
            <a:ext cx="2655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Georgia"/>
              </a:rPr>
              <a:t>ECL Engine &amp; Stress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4690" y="2501800"/>
            <a:ext cx="265509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38BDF8"/>
                </a:solidFill>
                <a:latin typeface="Agency FB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4690" y="3016150"/>
            <a:ext cx="2655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Georgia"/>
              </a:rPr>
              <a:t>Automated Data Tape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822</Words>
  <Application>Microsoft Office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Agency FB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2026-09-20T15:26:09Z</dcterms:modified>
  <cp:category/>
</cp:coreProperties>
</file>